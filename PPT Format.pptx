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83" r:id="rId3"/>
    <p:sldId id="258" r:id="rId4"/>
    <p:sldId id="285" r:id="rId5"/>
    <p:sldId id="284" r:id="rId6"/>
    <p:sldId id="286" r:id="rId7"/>
    <p:sldId id="287" r:id="rId8"/>
    <p:sldId id="288" r:id="rId9"/>
    <p:sldId id="289" r:id="rId10"/>
    <p:sldId id="29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34"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3177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9603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6567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0488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640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536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1077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398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420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14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9629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11/28/2025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012243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34672F9-A300-8746-B11D-4FE4B2881D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0" y="135"/>
            <a:ext cx="12191521" cy="6885113"/>
          </a:xfrm>
          <a:prstGeom prst="rect">
            <a:avLst/>
          </a:prstGeom>
        </p:spPr>
      </p:pic>
      <p:sp>
        <p:nvSpPr>
          <p:cNvPr id="2" name="Title 1"/>
          <p:cNvSpPr>
            <a:spLocks noGrp="1"/>
          </p:cNvSpPr>
          <p:nvPr>
            <p:ph type="ctrTitle"/>
          </p:nvPr>
        </p:nvSpPr>
        <p:spPr>
          <a:xfrm>
            <a:off x="914400" y="2151448"/>
            <a:ext cx="10363200" cy="1470025"/>
          </a:xfrm>
        </p:spPr>
        <p:txBody>
          <a:bodyPr>
            <a:normAutofit fontScale="90000"/>
          </a:bodyPr>
          <a:lstStyle/>
          <a:p>
            <a:r>
              <a:rPr lang="en-US" sz="5300" b="1" dirty="0"/>
              <a:t>BAKERY SHOP </a:t>
            </a:r>
            <a:br>
              <a:rPr lang="en-US" sz="5300" b="1" dirty="0"/>
            </a:br>
            <a:r>
              <a:rPr lang="en-US" sz="3600" b="1" dirty="0"/>
              <a:t>Subject Name: … WEB DEVLOPMENT WITH OPEN SOURCE Subject Code:  ETVAWD009</a:t>
            </a:r>
          </a:p>
        </p:txBody>
      </p:sp>
      <p:pic>
        <p:nvPicPr>
          <p:cNvPr id="5" name="Picture 4">
            <a:extLst>
              <a:ext uri="{FF2B5EF4-FFF2-40B4-BE49-F238E27FC236}">
                <a16:creationId xmlns:a16="http://schemas.microsoft.com/office/drawing/2014/main" id="{919CD4A3-CBDA-053F-9478-913A294D8E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853" y="298095"/>
            <a:ext cx="6395814" cy="920836"/>
          </a:xfrm>
          <a:prstGeom prst="rect">
            <a:avLst/>
          </a:prstGeom>
        </p:spPr>
      </p:pic>
      <p:sp>
        <p:nvSpPr>
          <p:cNvPr id="8" name="Rectangle 1">
            <a:extLst>
              <a:ext uri="{FF2B5EF4-FFF2-40B4-BE49-F238E27FC236}">
                <a16:creationId xmlns:a16="http://schemas.microsoft.com/office/drawing/2014/main" id="{E6738A99-7227-1391-9DFC-04660109D799}"/>
              </a:ext>
            </a:extLst>
          </p:cNvPr>
          <p:cNvSpPr>
            <a:spLocks noChangeArrowheads="1"/>
          </p:cNvSpPr>
          <p:nvPr/>
        </p:nvSpPr>
        <p:spPr bwMode="auto">
          <a:xfrm>
            <a:off x="1476798" y="4248263"/>
            <a:ext cx="4914169" cy="230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spAutoFit/>
          </a:bodyPr>
          <a:lstStyle/>
          <a:p>
            <a:pPr algn="ctr" defTabSz="457200">
              <a:buSzPct val="25000"/>
              <a:defRPr/>
            </a:pPr>
            <a:r>
              <a:rPr lang="en-US" sz="2400" b="1" kern="100" dirty="0">
                <a:solidFill>
                  <a:prstClr val="black"/>
                </a:solidFill>
                <a:latin typeface="Times New Roman" panose="02020603050405020304" pitchFamily="18" charset="0"/>
                <a:cs typeface="Times New Roman" panose="02020603050405020304" pitchFamily="18" charset="0"/>
                <a:sym typeface="Arial"/>
              </a:rPr>
              <a:t>Presented by:</a:t>
            </a:r>
          </a:p>
          <a:p>
            <a:pPr algn="ctr" defTabSz="457200">
              <a:buSzPct val="25000"/>
              <a:defRPr/>
            </a:pPr>
            <a:r>
              <a:rPr lang="en-US" sz="2400" b="1" kern="100" dirty="0">
                <a:solidFill>
                  <a:prstClr val="black"/>
                </a:solidFill>
                <a:latin typeface="Times New Roman" panose="02020603050405020304" pitchFamily="18" charset="0"/>
                <a:cs typeface="Times New Roman" panose="02020603050405020304" pitchFamily="18" charset="0"/>
                <a:sym typeface="Arial"/>
              </a:rPr>
              <a:t>VISHAL(2401010200)</a:t>
            </a:r>
            <a:endParaRPr lang="en-IN" sz="2400" b="1" dirty="0">
              <a:solidFill>
                <a:srgbClr val="E31E24"/>
              </a:solidFill>
              <a:latin typeface="Times New Roman" panose="02020603050405020304" pitchFamily="18" charset="0"/>
              <a:cs typeface="Times New Roman" panose="02020603050405020304" pitchFamily="18" charset="0"/>
              <a:sym typeface="Arial"/>
            </a:endParaRPr>
          </a:p>
          <a:p>
            <a:pPr marL="0" marR="0" lvl="0" indent="0" algn="ctr" defTabSz="457200" rtl="0" eaLnBrk="1" fontAlgn="auto" latinLnBrk="0" hangingPunct="1">
              <a:lnSpc>
                <a:spcPct val="100000"/>
              </a:lnSpc>
              <a:spcBef>
                <a:spcPts val="0"/>
              </a:spcBef>
              <a:spcAft>
                <a:spcPts val="0"/>
              </a:spcAft>
              <a:buClrTx/>
              <a:buSzPct val="25000"/>
              <a:buFontTx/>
              <a:buNone/>
              <a:tabLst/>
              <a:defRPr/>
            </a:pPr>
            <a:r>
              <a:rPr lang="en-US" sz="2400" b="1" kern="100" dirty="0">
                <a:solidFill>
                  <a:prstClr val="black"/>
                </a:solidFill>
                <a:latin typeface="Sylfaen" panose="010A0502050306030303" pitchFamily="18" charset="0"/>
                <a:ea typeface="Times New Roman" panose="02020603050405020304" pitchFamily="18" charset="0"/>
                <a:cs typeface="Times New Roman" panose="02020603050405020304" pitchFamily="18" charset="0"/>
              </a:rPr>
              <a:t>KRISH(2401010227)</a:t>
            </a:r>
          </a:p>
          <a:p>
            <a:pPr marL="0" marR="0" lvl="0" indent="0" algn="ctr" defTabSz="457200" rtl="0" eaLnBrk="1" fontAlgn="auto" latinLnBrk="0" hangingPunct="1">
              <a:lnSpc>
                <a:spcPct val="100000"/>
              </a:lnSpc>
              <a:spcBef>
                <a:spcPts val="0"/>
              </a:spcBef>
              <a:spcAft>
                <a:spcPts val="0"/>
              </a:spcAft>
              <a:buClrTx/>
              <a:buSzPct val="25000"/>
              <a:buFontTx/>
              <a:buNone/>
              <a:tabLst/>
              <a:defRPr/>
            </a:pPr>
            <a:r>
              <a:rPr lang="en-US" sz="2400" b="1" kern="100" dirty="0">
                <a:solidFill>
                  <a:prstClr val="black"/>
                </a:solidFill>
                <a:latin typeface="Sylfaen" panose="010A0502050306030303" pitchFamily="18" charset="0"/>
                <a:ea typeface="Times New Roman" panose="02020603050405020304" pitchFamily="18" charset="0"/>
                <a:cs typeface="Times New Roman" panose="02020603050405020304" pitchFamily="18" charset="0"/>
              </a:rPr>
              <a:t>HEMANT(2401010262)</a:t>
            </a:r>
          </a:p>
          <a:p>
            <a:pPr marL="0" marR="0" lvl="0" indent="0" algn="ctr" defTabSz="457200" rtl="0" eaLnBrk="1" fontAlgn="auto" latinLnBrk="0" hangingPunct="1">
              <a:lnSpc>
                <a:spcPct val="100000"/>
              </a:lnSpc>
              <a:spcBef>
                <a:spcPts val="0"/>
              </a:spcBef>
              <a:spcAft>
                <a:spcPts val="0"/>
              </a:spcAft>
              <a:buClrTx/>
              <a:buSzPct val="25000"/>
              <a:buFontTx/>
              <a:buNone/>
              <a:tabLst/>
              <a:defRPr/>
            </a:pPr>
            <a:r>
              <a:rPr kumimoji="0" lang="en-US" sz="2400" b="1" i="0" u="none" strike="noStrike" kern="100" cap="none" spc="0" normalizeH="0" baseline="0" noProof="0" dirty="0">
                <a:ln>
                  <a:noFill/>
                </a:ln>
                <a:solidFill>
                  <a:prstClr val="black"/>
                </a:solidFill>
                <a:effectLst/>
                <a:uLnTx/>
                <a:uFillTx/>
                <a:latin typeface="Sylfaen" panose="010A0502050306030303" pitchFamily="18" charset="0"/>
                <a:ea typeface="Times New Roman" panose="02020603050405020304" pitchFamily="18" charset="0"/>
                <a:cs typeface="Times New Roman" panose="02020603050405020304" pitchFamily="18" charset="0"/>
              </a:rPr>
              <a:t>HIMANSHU(2401010264)</a:t>
            </a:r>
          </a:p>
          <a:p>
            <a:pPr marL="0" marR="0" lvl="0" indent="0" algn="ctr" defTabSz="457200" rtl="0" eaLnBrk="1" fontAlgn="auto" latinLnBrk="0" hangingPunct="1">
              <a:lnSpc>
                <a:spcPct val="100000"/>
              </a:lnSpc>
              <a:spcBef>
                <a:spcPts val="0"/>
              </a:spcBef>
              <a:spcAft>
                <a:spcPts val="0"/>
              </a:spcAft>
              <a:buClrTx/>
              <a:buSzPct val="25000"/>
              <a:buFontTx/>
              <a:buNone/>
              <a:tabLst/>
              <a:defRPr/>
            </a:pPr>
            <a:r>
              <a:rPr kumimoji="0" lang="en-US" sz="2400" b="1" i="0" u="none" strike="noStrike" kern="100" cap="none" spc="0" normalizeH="0" baseline="0" noProof="0" dirty="0">
                <a:ln>
                  <a:noFill/>
                </a:ln>
                <a:solidFill>
                  <a:prstClr val="black"/>
                </a:solidFill>
                <a:effectLst/>
                <a:uLnTx/>
                <a:uFillTx/>
                <a:latin typeface="Sylfaen" panose="010A0502050306030303" pitchFamily="18" charset="0"/>
                <a:ea typeface="Times New Roman" panose="02020603050405020304" pitchFamily="18" charset="0"/>
                <a:cs typeface="Times New Roman" panose="02020603050405020304" pitchFamily="18" charset="0"/>
              </a:rPr>
              <a:t>Section-C</a:t>
            </a:r>
          </a:p>
        </p:txBody>
      </p:sp>
      <p:sp>
        <p:nvSpPr>
          <p:cNvPr id="3" name="TextBox 2">
            <a:extLst>
              <a:ext uri="{FF2B5EF4-FFF2-40B4-BE49-F238E27FC236}">
                <a16:creationId xmlns:a16="http://schemas.microsoft.com/office/drawing/2014/main" id="{A12B050D-B502-3FEE-09D1-798CD55AEF03}"/>
              </a:ext>
            </a:extLst>
          </p:cNvPr>
          <p:cNvSpPr txBox="1"/>
          <p:nvPr/>
        </p:nvSpPr>
        <p:spPr>
          <a:xfrm>
            <a:off x="6195315" y="4940758"/>
            <a:ext cx="6096000" cy="120032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Pct val="25000"/>
              <a:buFontTx/>
              <a:buNone/>
              <a:tabLst/>
              <a:defRPr/>
            </a:pPr>
            <a:r>
              <a:rPr kumimoji="0" lang="en-US" sz="2400" b="1" i="0" u="none" strike="noStrike" kern="1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Presented to:</a:t>
            </a:r>
          </a:p>
          <a:p>
            <a:pPr marL="0" marR="0" lvl="0" indent="0" algn="ctr" defTabSz="457200" rtl="0" eaLnBrk="1" fontAlgn="auto" latinLnBrk="0" hangingPunct="1">
              <a:lnSpc>
                <a:spcPct val="100000"/>
              </a:lnSpc>
              <a:spcBef>
                <a:spcPts val="0"/>
              </a:spcBef>
              <a:spcAft>
                <a:spcPts val="0"/>
              </a:spcAft>
              <a:buClrTx/>
              <a:buSzPct val="25000"/>
              <a:buFontTx/>
              <a:buNone/>
              <a:tabLst/>
              <a:defRPr/>
            </a:pPr>
            <a:r>
              <a:rPr lang="en-US" sz="2400" b="1" kern="100" dirty="0">
                <a:solidFill>
                  <a:prstClr val="black"/>
                </a:solidFill>
                <a:latin typeface="Times New Roman" panose="02020603050405020304" pitchFamily="18" charset="0"/>
                <a:cs typeface="Times New Roman" panose="02020603050405020304" pitchFamily="18" charset="0"/>
                <a:sym typeface="Arial"/>
              </a:rPr>
              <a:t>Dr. Aarti</a:t>
            </a:r>
            <a:endParaRPr kumimoji="0" lang="en-US" sz="2400" b="1" i="0" u="none" strike="noStrike" kern="1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ctr" defTabSz="457200" rtl="0" eaLnBrk="1" fontAlgn="auto" latinLnBrk="0" hangingPunct="1">
              <a:lnSpc>
                <a:spcPct val="100000"/>
              </a:lnSpc>
              <a:spcBef>
                <a:spcPts val="0"/>
              </a:spcBef>
              <a:spcAft>
                <a:spcPts val="0"/>
              </a:spcAft>
              <a:buClrTx/>
              <a:buSzPct val="25000"/>
              <a:buFontTx/>
              <a:buNone/>
              <a:tabLst/>
              <a:defRPr/>
            </a:pPr>
            <a:endParaRPr kumimoji="0" lang="en-IN" sz="2400" b="1" i="0" u="none" strike="noStrike" kern="1200" cap="none" spc="0" normalizeH="0" baseline="0" noProof="0" dirty="0">
              <a:ln>
                <a:noFill/>
              </a:ln>
              <a:solidFill>
                <a:srgbClr val="E31E24"/>
              </a:solidFill>
              <a:effectLst/>
              <a:uLnTx/>
              <a:uFillTx/>
              <a:latin typeface="Times New Roman" panose="02020603050405020304" pitchFamily="18" charset="0"/>
              <a:ea typeface="+mn-ea"/>
              <a:cs typeface="Times New Roman" panose="020206030504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3">
            <a:extLst>
              <a:ext uri="{FF2B5EF4-FFF2-40B4-BE49-F238E27FC236}">
                <a16:creationId xmlns:a16="http://schemas.microsoft.com/office/drawing/2014/main" id="{E7BAF44D-7ECF-E0A0-CC6B-565F0AC4E9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13"/>
            <a:ext cx="12191521" cy="6885113"/>
          </a:xfrm>
          <a:prstGeom prst="rect">
            <a:avLst/>
          </a:prstGeom>
        </p:spPr>
      </p:pic>
      <p:sp>
        <p:nvSpPr>
          <p:cNvPr id="4" name="Title 3">
            <a:extLst>
              <a:ext uri="{FF2B5EF4-FFF2-40B4-BE49-F238E27FC236}">
                <a16:creationId xmlns:a16="http://schemas.microsoft.com/office/drawing/2014/main" id="{480D2C4A-9EE9-E607-7DD2-BEDB86603ACF}"/>
              </a:ext>
            </a:extLst>
          </p:cNvPr>
          <p:cNvSpPr>
            <a:spLocks noGrp="1"/>
          </p:cNvSpPr>
          <p:nvPr>
            <p:ph type="title"/>
          </p:nvPr>
        </p:nvSpPr>
        <p:spPr>
          <a:xfrm>
            <a:off x="750037" y="252394"/>
            <a:ext cx="10363200" cy="8282005"/>
          </a:xfrm>
        </p:spPr>
        <p:txBody>
          <a:bodyPr>
            <a:noAutofit/>
          </a:bodyPr>
          <a:lstStyle/>
          <a:p>
            <a:pPr algn="ctr"/>
            <a:br>
              <a:rPr lang="en-US" sz="3200" dirty="0"/>
            </a:br>
            <a:r>
              <a:rPr lang="en-US" sz="3200" dirty="0"/>
              <a:t>INTRODUCTION</a:t>
            </a:r>
            <a:br>
              <a:rPr lang="en-US" sz="3200" dirty="0"/>
            </a:br>
            <a:br>
              <a:rPr lang="en-US" sz="3200" dirty="0"/>
            </a:br>
            <a:r>
              <a:rPr lang="en-US" sz="3200" dirty="0"/>
              <a:t>online Bakery shop allows users to check and purchase various bakery products available online. The project consists of list of bakery products displayed in various categories and the user can browse through the items. User can add the selected items it to his shopping cart. User needs to register on the site before checking out. </a:t>
            </a:r>
            <a:br>
              <a:rPr lang="en-US" sz="3200" dirty="0"/>
            </a:br>
            <a:endParaRPr lang="en-IN" sz="3200" b="0" cap="none" dirty="0"/>
          </a:p>
        </p:txBody>
      </p:sp>
    </p:spTree>
    <p:extLst>
      <p:ext uri="{BB962C8B-B14F-4D97-AF65-F5344CB8AC3E}">
        <p14:creationId xmlns:p14="http://schemas.microsoft.com/office/powerpoint/2010/main" val="784207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23541"/>
          </a:xfrm>
        </p:spPr>
        <p:txBody>
          <a:bodyPr/>
          <a:lstStyle/>
          <a:p>
            <a:r>
              <a:rPr lang="en-IN" b="1" dirty="0"/>
              <a:t>Table of Contents</a:t>
            </a:r>
            <a:endParaRPr b="1" dirty="0"/>
          </a:p>
        </p:txBody>
      </p:sp>
      <p:sp>
        <p:nvSpPr>
          <p:cNvPr id="3" name="Content Placeholder 2"/>
          <p:cNvSpPr>
            <a:spLocks noGrp="1"/>
          </p:cNvSpPr>
          <p:nvPr>
            <p:ph idx="1"/>
          </p:nvPr>
        </p:nvSpPr>
        <p:spPr/>
        <p:txBody>
          <a:bodyPr>
            <a:noAutofit/>
          </a:bodyPr>
          <a:lstStyle/>
          <a:p>
            <a:pPr marL="0" indent="0">
              <a:lnSpc>
                <a:spcPct val="150000"/>
              </a:lnSpc>
              <a:spcBef>
                <a:spcPts val="600"/>
              </a:spcBef>
              <a:buNone/>
            </a:pPr>
            <a:r>
              <a:rPr lang="en-IN" sz="2400" b="1" dirty="0"/>
              <a:t> 1  ADMIN_TABLE</a:t>
            </a:r>
          </a:p>
          <a:p>
            <a:pPr marL="457200" indent="-457200">
              <a:lnSpc>
                <a:spcPct val="150000"/>
              </a:lnSpc>
              <a:spcBef>
                <a:spcPts val="600"/>
              </a:spcBef>
              <a:buAutoNum type="arabicPlain" startAt="2"/>
            </a:pPr>
            <a:r>
              <a:rPr lang="en-IN" sz="2400" b="1" dirty="0"/>
              <a:t>USERNAME_TABLE</a:t>
            </a:r>
          </a:p>
          <a:p>
            <a:pPr marL="457200" indent="-457200">
              <a:lnSpc>
                <a:spcPct val="150000"/>
              </a:lnSpc>
              <a:spcBef>
                <a:spcPts val="600"/>
              </a:spcBef>
              <a:buAutoNum type="arabicPlain" startAt="2"/>
            </a:pPr>
            <a:r>
              <a:rPr lang="en-IN" sz="2400" b="1" dirty="0"/>
              <a:t>ORDERS</a:t>
            </a:r>
          </a:p>
          <a:p>
            <a:pPr marL="457200" indent="-457200">
              <a:lnSpc>
                <a:spcPct val="150000"/>
              </a:lnSpc>
              <a:spcBef>
                <a:spcPts val="600"/>
              </a:spcBef>
              <a:buAutoNum type="arabicPlain" startAt="2"/>
            </a:pPr>
            <a:r>
              <a:rPr lang="en-IN" sz="2400" b="1" dirty="0"/>
              <a:t>ORDERS_PRODUCTS</a:t>
            </a:r>
          </a:p>
          <a:p>
            <a:pPr marL="457200" indent="-457200">
              <a:lnSpc>
                <a:spcPct val="150000"/>
              </a:lnSpc>
              <a:spcBef>
                <a:spcPts val="600"/>
              </a:spcBef>
              <a:buAutoNum type="arabicPlain" startAt="2"/>
            </a:pPr>
            <a:r>
              <a:rPr lang="en-IN" sz="2400" b="1" dirty="0"/>
              <a:t>PRODUCT_TABLES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A7E52-303F-4447-E161-D0D3BCD53478}"/>
              </a:ext>
            </a:extLst>
          </p:cNvPr>
          <p:cNvSpPr>
            <a:spLocks noGrp="1"/>
          </p:cNvSpPr>
          <p:nvPr>
            <p:ph type="title"/>
          </p:nvPr>
        </p:nvSpPr>
        <p:spPr/>
        <p:txBody>
          <a:bodyPr/>
          <a:lstStyle/>
          <a:p>
            <a:r>
              <a:rPr lang="en-US" dirty="0"/>
              <a:t>1</a:t>
            </a:r>
            <a:r>
              <a:rPr lang="en-IN" dirty="0"/>
              <a:t>. ADMIN_TABLE</a:t>
            </a:r>
          </a:p>
        </p:txBody>
      </p:sp>
      <p:pic>
        <p:nvPicPr>
          <p:cNvPr id="5" name="Content Placeholder 4">
            <a:extLst>
              <a:ext uri="{FF2B5EF4-FFF2-40B4-BE49-F238E27FC236}">
                <a16:creationId xmlns:a16="http://schemas.microsoft.com/office/drawing/2014/main" id="{1916D09D-F629-DF7F-70BD-68C2877215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899138"/>
            <a:ext cx="11230708" cy="4126524"/>
          </a:xfrm>
        </p:spPr>
      </p:pic>
    </p:spTree>
    <p:extLst>
      <p:ext uri="{BB962C8B-B14F-4D97-AF65-F5344CB8AC3E}">
        <p14:creationId xmlns:p14="http://schemas.microsoft.com/office/powerpoint/2010/main" val="3142493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A5B60-2FE5-2EAA-9DD8-5F971FC58418}"/>
              </a:ext>
            </a:extLst>
          </p:cNvPr>
          <p:cNvSpPr>
            <a:spLocks noGrp="1"/>
          </p:cNvSpPr>
          <p:nvPr>
            <p:ph type="title"/>
          </p:nvPr>
        </p:nvSpPr>
        <p:spPr/>
        <p:txBody>
          <a:bodyPr/>
          <a:lstStyle/>
          <a:p>
            <a:r>
              <a:rPr lang="en-US" dirty="0"/>
              <a:t>2</a:t>
            </a:r>
            <a:r>
              <a:rPr lang="en-IN" dirty="0"/>
              <a:t>.USERNAME_TABLE </a:t>
            </a:r>
          </a:p>
        </p:txBody>
      </p:sp>
      <p:pic>
        <p:nvPicPr>
          <p:cNvPr id="5" name="Content Placeholder 4">
            <a:extLst>
              <a:ext uri="{FF2B5EF4-FFF2-40B4-BE49-F238E27FC236}">
                <a16:creationId xmlns:a16="http://schemas.microsoft.com/office/drawing/2014/main" id="{33C32C65-9A34-C7E1-09D7-5FEB882596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3723" y="1664677"/>
            <a:ext cx="10621108" cy="4079631"/>
          </a:xfrm>
        </p:spPr>
      </p:pic>
    </p:spTree>
    <p:extLst>
      <p:ext uri="{BB962C8B-B14F-4D97-AF65-F5344CB8AC3E}">
        <p14:creationId xmlns:p14="http://schemas.microsoft.com/office/powerpoint/2010/main" val="1243971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42CA8-E22B-E9CC-5EF0-72CD72A91773}"/>
              </a:ext>
            </a:extLst>
          </p:cNvPr>
          <p:cNvSpPr>
            <a:spLocks noGrp="1"/>
          </p:cNvSpPr>
          <p:nvPr>
            <p:ph type="title"/>
          </p:nvPr>
        </p:nvSpPr>
        <p:spPr/>
        <p:txBody>
          <a:bodyPr/>
          <a:lstStyle/>
          <a:p>
            <a:r>
              <a:rPr lang="en-US" dirty="0"/>
              <a:t>3. ORDERS</a:t>
            </a:r>
            <a:endParaRPr lang="en-IN" dirty="0"/>
          </a:p>
        </p:txBody>
      </p:sp>
      <p:pic>
        <p:nvPicPr>
          <p:cNvPr id="5" name="Content Placeholder 4">
            <a:extLst>
              <a:ext uri="{FF2B5EF4-FFF2-40B4-BE49-F238E27FC236}">
                <a16:creationId xmlns:a16="http://schemas.microsoft.com/office/drawing/2014/main" id="{E3153D16-5F96-1E65-9378-543FC7F099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3723" y="1781907"/>
            <a:ext cx="10808677" cy="3868615"/>
          </a:xfrm>
        </p:spPr>
      </p:pic>
    </p:spTree>
    <p:extLst>
      <p:ext uri="{BB962C8B-B14F-4D97-AF65-F5344CB8AC3E}">
        <p14:creationId xmlns:p14="http://schemas.microsoft.com/office/powerpoint/2010/main" val="3035724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A162C-2F02-E815-8539-CC6D8603A249}"/>
              </a:ext>
            </a:extLst>
          </p:cNvPr>
          <p:cNvSpPr>
            <a:spLocks noGrp="1"/>
          </p:cNvSpPr>
          <p:nvPr>
            <p:ph type="title"/>
          </p:nvPr>
        </p:nvSpPr>
        <p:spPr/>
        <p:txBody>
          <a:bodyPr/>
          <a:lstStyle/>
          <a:p>
            <a:r>
              <a:rPr lang="en-US" dirty="0"/>
              <a:t>4.ORDERS_TABLE</a:t>
            </a:r>
            <a:endParaRPr lang="en-IN" dirty="0"/>
          </a:p>
        </p:txBody>
      </p:sp>
      <p:pic>
        <p:nvPicPr>
          <p:cNvPr id="5" name="Content Placeholder 4">
            <a:extLst>
              <a:ext uri="{FF2B5EF4-FFF2-40B4-BE49-F238E27FC236}">
                <a16:creationId xmlns:a16="http://schemas.microsoft.com/office/drawing/2014/main" id="{5A348AA4-B65D-C7B3-E568-BF5E56127F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1292" y="2016369"/>
            <a:ext cx="10621107" cy="4009293"/>
          </a:xfrm>
        </p:spPr>
      </p:pic>
    </p:spTree>
    <p:extLst>
      <p:ext uri="{BB962C8B-B14F-4D97-AF65-F5344CB8AC3E}">
        <p14:creationId xmlns:p14="http://schemas.microsoft.com/office/powerpoint/2010/main" val="2116660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74AD7-8034-ADBA-B3DA-C4A0599061EE}"/>
              </a:ext>
            </a:extLst>
          </p:cNvPr>
          <p:cNvSpPr>
            <a:spLocks noGrp="1"/>
          </p:cNvSpPr>
          <p:nvPr>
            <p:ph type="title"/>
          </p:nvPr>
        </p:nvSpPr>
        <p:spPr/>
        <p:txBody>
          <a:bodyPr/>
          <a:lstStyle/>
          <a:p>
            <a:r>
              <a:rPr lang="en-US" dirty="0"/>
              <a:t>5. PRODUCT_TABLE</a:t>
            </a:r>
            <a:endParaRPr lang="en-IN" dirty="0"/>
          </a:p>
        </p:txBody>
      </p:sp>
      <p:pic>
        <p:nvPicPr>
          <p:cNvPr id="5" name="Content Placeholder 4">
            <a:extLst>
              <a:ext uri="{FF2B5EF4-FFF2-40B4-BE49-F238E27FC236}">
                <a16:creationId xmlns:a16="http://schemas.microsoft.com/office/drawing/2014/main" id="{51CB9935-B543-EA7D-88D6-F74AE7F859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738" y="1852246"/>
            <a:ext cx="10433539" cy="4079631"/>
          </a:xfrm>
        </p:spPr>
      </p:pic>
    </p:spTree>
    <p:extLst>
      <p:ext uri="{BB962C8B-B14F-4D97-AF65-F5344CB8AC3E}">
        <p14:creationId xmlns:p14="http://schemas.microsoft.com/office/powerpoint/2010/main" val="208777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A6404-5681-36DB-0E50-7D57FCE8E22C}"/>
              </a:ext>
            </a:extLst>
          </p:cNvPr>
          <p:cNvSpPr>
            <a:spLocks noGrp="1"/>
          </p:cNvSpPr>
          <p:nvPr>
            <p:ph type="title"/>
          </p:nvPr>
        </p:nvSpPr>
        <p:spPr/>
        <p:txBody>
          <a:bodyPr/>
          <a:lstStyle/>
          <a:p>
            <a:r>
              <a:rPr lang="en-IN" dirty="0"/>
              <a:t>SOFTWARE REQUIRMENT SPECIFICATION</a:t>
            </a:r>
          </a:p>
        </p:txBody>
      </p:sp>
      <p:pic>
        <p:nvPicPr>
          <p:cNvPr id="5" name="Content Placeholder 4">
            <a:extLst>
              <a:ext uri="{FF2B5EF4-FFF2-40B4-BE49-F238E27FC236}">
                <a16:creationId xmlns:a16="http://schemas.microsoft.com/office/drawing/2014/main" id="{258424EE-3E1D-F3B6-45C4-99F2656A26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053179"/>
            <a:ext cx="10972800" cy="3925590"/>
          </a:xfrm>
        </p:spPr>
      </p:pic>
    </p:spTree>
    <p:extLst>
      <p:ext uri="{BB962C8B-B14F-4D97-AF65-F5344CB8AC3E}">
        <p14:creationId xmlns:p14="http://schemas.microsoft.com/office/powerpoint/2010/main" val="208354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AFF6B-96ED-2AB3-288A-A8AA2A65C737}"/>
              </a:ext>
            </a:extLst>
          </p:cNvPr>
          <p:cNvSpPr>
            <a:spLocks noGrp="1"/>
          </p:cNvSpPr>
          <p:nvPr>
            <p:ph type="title"/>
          </p:nvPr>
        </p:nvSpPr>
        <p:spPr/>
        <p:txBody>
          <a:bodyPr/>
          <a:lstStyle/>
          <a:p>
            <a:r>
              <a:rPr lang="en-IN" dirty="0"/>
              <a:t>REFRENCE AND WEBSITE VISITED</a:t>
            </a:r>
          </a:p>
        </p:txBody>
      </p:sp>
      <p:pic>
        <p:nvPicPr>
          <p:cNvPr id="5" name="Content Placeholder 4">
            <a:extLst>
              <a:ext uri="{FF2B5EF4-FFF2-40B4-BE49-F238E27FC236}">
                <a16:creationId xmlns:a16="http://schemas.microsoft.com/office/drawing/2014/main" id="{39DA5AEE-ADFD-466F-D5ED-7C6679B110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8584" y="1417638"/>
            <a:ext cx="11394831" cy="4537686"/>
          </a:xfrm>
        </p:spPr>
      </p:pic>
    </p:spTree>
    <p:extLst>
      <p:ext uri="{BB962C8B-B14F-4D97-AF65-F5344CB8AC3E}">
        <p14:creationId xmlns:p14="http://schemas.microsoft.com/office/powerpoint/2010/main" val="186806829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TotalTime>
  <Words>154</Words>
  <Application>Microsoft Office PowerPoint</Application>
  <PresentationFormat>Widescreen</PresentationFormat>
  <Paragraphs>23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Sylfaen</vt:lpstr>
      <vt:lpstr>Times New Roman</vt:lpstr>
      <vt:lpstr>1_Office Theme</vt:lpstr>
      <vt:lpstr>BAKERY SHOP  Subject Name: … WEB DEVLOPMENT WITH OPEN SOURCE Subject Code:  ETVAWD009</vt:lpstr>
      <vt:lpstr> INTRODUCTION  online Bakery shop allows users to check and purchase various bakery products available online. The project consists of list of bakery products displayed in various categories and the user can browse through the items. User can add the selected items it to his shopping cart. User needs to register on the site before checking out.  </vt:lpstr>
      <vt:lpstr>Table of Contents</vt:lpstr>
      <vt:lpstr>1. ADMIN_TABLE</vt:lpstr>
      <vt:lpstr>2.USERNAME_TABLE </vt:lpstr>
      <vt:lpstr>3. ORDERS</vt:lpstr>
      <vt:lpstr>4.ORDERS_TABLE</vt:lpstr>
      <vt:lpstr>5. PRODUCT_TABLE</vt:lpstr>
      <vt:lpstr>SOFTWARE REQUIRMENT SPECIFICATION</vt:lpstr>
      <vt:lpstr>REFRENCE AND WEBSITE VISITED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Aarti Sangwan</dc:creator>
  <cp:lastModifiedBy>vishal takkar</cp:lastModifiedBy>
  <cp:revision>7</cp:revision>
  <dcterms:created xsi:type="dcterms:W3CDTF">2025-11-05T06:53:51Z</dcterms:created>
  <dcterms:modified xsi:type="dcterms:W3CDTF">2025-11-28T17:07:09Z</dcterms:modified>
</cp:coreProperties>
</file>